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Montserrat Ultra-Bold" charset="1" panose="00000900000000000000"/>
      <p:regular r:id="rId11"/>
    </p:embeddedFont>
    <p:embeddedFont>
      <p:font typeface="Montserrat Medium" charset="1" panose="00000600000000000000"/>
      <p:regular r:id="rId12"/>
    </p:embeddedFont>
    <p:embeddedFont>
      <p:font typeface="Montserrat Bold" charset="1" panose="00000800000000000000"/>
      <p:regular r:id="rId13"/>
    </p:embeddedFont>
    <p:embeddedFont>
      <p:font typeface="Roboto Bold" charset="1" panose="02000000000000000000"/>
      <p:regular r:id="rId14"/>
    </p:embeddedFont>
    <p:embeddedFont>
      <p:font typeface="Roboto" charset="1" panose="02000000000000000000"/>
      <p:regular r:id="rId15"/>
    </p:embeddedFont>
    <p:embeddedFont>
      <p:font typeface="Open Sans" charset="1" panose="020B06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9997" y="1614614"/>
            <a:ext cx="15968006" cy="385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39"/>
              </a:lnSpc>
            </a:pPr>
            <a:r>
              <a:rPr lang="en-US" sz="10039" b="tru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Modelado Predictivo de Ingresos Recurrentes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9195" y="5536746"/>
            <a:ext cx="6816105" cy="35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b="true" sz="2799" spc="1296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FUGAS DE INGRESOS 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85791" y="42862"/>
            <a:ext cx="1555561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3964011" y="7815472"/>
            <a:ext cx="3752489" cy="1442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05"/>
              </a:lnSpc>
            </a:pPr>
            <a:r>
              <a:rPr lang="en-US" b="true" sz="2201" spc="4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FERNANDA FERNÁNDEZ</a:t>
            </a:r>
          </a:p>
          <a:p>
            <a:pPr algn="r">
              <a:lnSpc>
                <a:spcPts val="2905"/>
              </a:lnSpc>
            </a:pPr>
            <a:r>
              <a:rPr lang="en-US" b="true" sz="2201" spc="4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BENJAMÍN GAJARDO</a:t>
            </a:r>
          </a:p>
          <a:p>
            <a:pPr algn="r">
              <a:lnSpc>
                <a:spcPts val="2905"/>
              </a:lnSpc>
            </a:pPr>
            <a:r>
              <a:rPr lang="en-US" b="true" sz="2201" spc="4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LUKAS LAGOS</a:t>
            </a:r>
          </a:p>
          <a:p>
            <a:pPr algn="r">
              <a:lnSpc>
                <a:spcPts val="2905"/>
              </a:lnSpc>
            </a:pPr>
            <a:r>
              <a:rPr lang="en-US" b="true" sz="2201" spc="4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SEBASTIÁN SORIANO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4197" y="513397"/>
            <a:ext cx="16556503" cy="203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b="tru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Contexto y problema del negocio</a:t>
            </a:r>
          </a:p>
        </p:txBody>
      </p:sp>
      <p:sp>
        <p:nvSpPr>
          <p:cNvPr name="AutoShape 3" id="3"/>
          <p:cNvSpPr/>
          <p:nvPr/>
        </p:nvSpPr>
        <p:spPr>
          <a:xfrm>
            <a:off x="42862" y="370522"/>
            <a:ext cx="0" cy="1833835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951488" y="2759392"/>
            <a:ext cx="339191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4200" b="true">
                <a:solidFill>
                  <a:srgbClr val="1800AD"/>
                </a:solidFill>
                <a:latin typeface="Roboto Bold"/>
                <a:ea typeface="Roboto Bold"/>
                <a:cs typeface="Roboto Bold"/>
                <a:sym typeface="Roboto Bold"/>
              </a:rPr>
              <a:t>Problema: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7300" y="3499757"/>
            <a:ext cx="1543050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Incertidumbre en la proyección de sus ingresos trimestrales y riesgo de fuga de ingresos.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1488" y="4853354"/>
            <a:ext cx="784961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4200" b="true">
                <a:solidFill>
                  <a:srgbClr val="1800AD"/>
                </a:solidFill>
                <a:latin typeface="Roboto Bold"/>
                <a:ea typeface="Roboto Bold"/>
                <a:cs typeface="Roboto Bold"/>
                <a:sym typeface="Roboto Bold"/>
              </a:rPr>
              <a:t>Objetivo del modelo predictivo: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300" y="5596304"/>
            <a:ext cx="15430500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Estimar de manera precisa el Ingreso Mensual Recurrente </a:t>
            </a:r>
            <a:r>
              <a:rPr lang="en-US" sz="32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(MRR)</a:t>
            </a: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del próximo trimestre para cada cliente según su uso de la plataforma, características de la empresa y tipo de contrato.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434943"/>
            <a:ext cx="1093571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4200" b="true">
                <a:solidFill>
                  <a:srgbClr val="1800AD"/>
                </a:solidFill>
                <a:latin typeface="Roboto Bold"/>
                <a:ea typeface="Roboto Bold"/>
                <a:cs typeface="Roboto Bold"/>
                <a:sym typeface="Roboto Bold"/>
              </a:rPr>
              <a:t>Justificación del retorno de inversión (ROI):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7300" y="8177893"/>
            <a:ext cx="15430500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Priorizar los recursos de Customer Success: proteger a los clientes de mayor valor y detectar a tiempo a los que proyectan bajos ingresos, maximizando el retorno de cada dólar invertido.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399" y="773158"/>
            <a:ext cx="16899403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b="tru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Calidad y Tratamiento de Datos</a:t>
            </a:r>
          </a:p>
        </p:txBody>
      </p:sp>
      <p:sp>
        <p:nvSpPr>
          <p:cNvPr name="AutoShape 3" id="3"/>
          <p:cNvSpPr/>
          <p:nvPr/>
        </p:nvSpPr>
        <p:spPr>
          <a:xfrm>
            <a:off x="42862" y="370522"/>
            <a:ext cx="0" cy="1507264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518070" y="3174682"/>
            <a:ext cx="7365902" cy="239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20"/>
              </a:lnSpc>
            </a:pPr>
            <a:r>
              <a:rPr lang="en-US" sz="3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Variables con nulos: </a:t>
            </a:r>
          </a:p>
          <a:p>
            <a:pPr algn="just" marL="734061" indent="-367031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satisfaccion_nps (12%)</a:t>
            </a:r>
          </a:p>
          <a:p>
            <a:pPr algn="just" marL="734061" indent="-367031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tickets_soporte (8,2%) </a:t>
            </a:r>
          </a:p>
          <a:p>
            <a:pPr algn="just" marL="734061" indent="-367031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promedio_sesiones_mes (5,1%)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805" y="3174682"/>
            <a:ext cx="5862579" cy="239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19"/>
              </a:lnSpc>
            </a:pPr>
            <a:r>
              <a:rPr lang="en-US" sz="33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Variables con sesgo fuerte:</a:t>
            </a:r>
          </a:p>
          <a:p>
            <a:pPr algn="l" marL="734059" indent="-36703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promedio_sesiones_mes</a:t>
            </a:r>
          </a:p>
          <a:p>
            <a:pPr algn="l" marL="734059" indent="-36703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mrr_proximo_trimestre</a:t>
            </a:r>
          </a:p>
          <a:p>
            <a:pPr algn="l">
              <a:lnSpc>
                <a:spcPts val="40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11358" y="1965347"/>
            <a:ext cx="14794134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b="true" sz="4200">
                <a:solidFill>
                  <a:srgbClr val="1800AD"/>
                </a:solidFill>
                <a:latin typeface="Roboto Bold"/>
                <a:ea typeface="Roboto Bold"/>
                <a:cs typeface="Roboto Bold"/>
                <a:sym typeface="Roboto Bold"/>
              </a:rPr>
              <a:t>Estado inicial: </a:t>
            </a:r>
            <a:r>
              <a:rPr lang="en-US" sz="4200">
                <a:solidFill>
                  <a:srgbClr val="1800AD"/>
                </a:solidFill>
                <a:latin typeface="Roboto"/>
                <a:ea typeface="Roboto"/>
                <a:cs typeface="Roboto"/>
                <a:sym typeface="Roboto"/>
              </a:rPr>
              <a:t>30.000 Clientes - 11 variables - sin duplicados </a:t>
            </a:r>
          </a:p>
          <a:p>
            <a:pPr algn="just">
              <a:lnSpc>
                <a:spcPts val="5040"/>
              </a:lnSpc>
            </a:pPr>
            <a:r>
              <a:rPr lang="en-US" sz="4200">
                <a:solidFill>
                  <a:srgbClr val="1800AD"/>
                </a:solidFill>
                <a:latin typeface="Roboto"/>
                <a:ea typeface="Roboto"/>
                <a:cs typeface="Roboto"/>
                <a:sym typeface="Roboto"/>
              </a:rPr>
              <a:t>- sin inconsistencias.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1358" y="5445442"/>
            <a:ext cx="5536077" cy="880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59"/>
              </a:lnSpc>
            </a:pPr>
            <a:r>
              <a:rPr lang="en-US" sz="4199" b="true">
                <a:solidFill>
                  <a:srgbClr val="1800AD"/>
                </a:solidFill>
                <a:latin typeface="Roboto Bold"/>
                <a:ea typeface="Roboto Bold"/>
                <a:cs typeface="Roboto Bold"/>
                <a:sym typeface="Roboto Bold"/>
              </a:rPr>
              <a:t>Preparación de Datos: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3805" y="6468428"/>
            <a:ext cx="13881002" cy="354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Winsorizer </a:t>
            </a:r>
            <a:r>
              <a:rPr lang="en-US" sz="3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para valores extremos</a:t>
            </a:r>
          </a:p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Mediana</a:t>
            </a:r>
            <a:r>
              <a:rPr lang="en-US" sz="3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para los nulos</a:t>
            </a:r>
          </a:p>
          <a:p>
            <a:pPr algn="l">
              <a:lnSpc>
                <a:spcPts val="1560"/>
              </a:lnSpc>
            </a:pPr>
          </a:p>
          <a:p>
            <a:pPr algn="l">
              <a:lnSpc>
                <a:spcPts val="6119"/>
              </a:lnSpc>
            </a:pPr>
            <a:r>
              <a:rPr lang="en-US" sz="33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Codificación Categórica:</a:t>
            </a:r>
          </a:p>
          <a:p>
            <a:pPr algn="l" marL="734059" indent="-36703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Ordinal Encoding:</a:t>
            </a:r>
            <a:r>
              <a:rPr lang="en-US" sz="3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tamaño_empresa (Pequeña &lt; Mediana &lt; Grande)</a:t>
            </a:r>
          </a:p>
          <a:p>
            <a:pPr algn="l" marL="734059" indent="-36703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One-Hot Encoding:</a:t>
            </a:r>
            <a:r>
              <a:rPr lang="en-US" sz="3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sector_empresa</a:t>
            </a:r>
          </a:p>
          <a:p>
            <a:pPr algn="l" marL="734059" indent="-367030" lvl="1">
              <a:lnSpc>
                <a:spcPts val="407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Mapeo numérico: </a:t>
            </a:r>
            <a:r>
              <a:rPr lang="en-US" sz="3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duración_contrato y pago_puntual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58200" y="6440261"/>
            <a:ext cx="906113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9"/>
              </a:lnSpc>
            </a:pPr>
            <a:r>
              <a:rPr lang="en-US" b="true" sz="33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Antigüedad: </a:t>
            </a:r>
            <a:r>
              <a:rPr lang="en-US" sz="3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fecha_registro ⟶ antiguedad_dias</a:t>
            </a:r>
          </a:p>
          <a:p>
            <a:pPr algn="just">
              <a:lnSpc>
                <a:spcPts val="4079"/>
              </a:lnSpc>
            </a:pPr>
            <a:r>
              <a:rPr lang="en-US" b="true" sz="33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Estandarización </a:t>
            </a:r>
            <a:r>
              <a:rPr lang="en-US" sz="3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 variables numéricas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6894" y="494484"/>
            <a:ext cx="15968006" cy="203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800" b="tru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Resultados del modelo y métricas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54494" y="42862"/>
            <a:ext cx="1555561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57300" y="2581275"/>
            <a:ext cx="16775762" cy="358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4500" b="true">
                <a:solidFill>
                  <a:srgbClr val="1800AD"/>
                </a:solidFill>
                <a:latin typeface="Roboto Bold"/>
                <a:ea typeface="Roboto Bold"/>
                <a:cs typeface="Roboto Bold"/>
                <a:sym typeface="Roboto Bold"/>
              </a:rPr>
              <a:t>Error de predicción MAE:</a:t>
            </a:r>
          </a:p>
          <a:p>
            <a:pPr algn="l" marL="820419" indent="-410209" lvl="1">
              <a:lnSpc>
                <a:spcPts val="493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Clientes conocidos:</a:t>
            </a:r>
            <a:r>
              <a:rPr lang="en-US" sz="3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70.34 USD</a:t>
            </a:r>
          </a:p>
          <a:p>
            <a:pPr algn="l" marL="820419" indent="-410209" lvl="1">
              <a:lnSpc>
                <a:spcPts val="4939"/>
              </a:lnSpc>
              <a:buFont typeface="Arial"/>
              <a:buChar char="•"/>
            </a:pPr>
            <a:r>
              <a:rPr lang="en-US" b="true" sz="37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Clientes</a:t>
            </a:r>
            <a:r>
              <a:rPr lang="en-US" b="true" sz="37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nuevos:</a:t>
            </a:r>
            <a:r>
              <a:rPr lang="en-US" sz="3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69.03 USD</a:t>
            </a:r>
          </a:p>
          <a:p>
            <a:pPr algn="l">
              <a:lnSpc>
                <a:spcPts val="4939"/>
              </a:lnSpc>
            </a:pPr>
            <a:r>
              <a:rPr lang="en-US" sz="3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 términos prácticos, las proyecciones tendrán un margen de error de ~69 USD por cliente.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7300" y="6165850"/>
            <a:ext cx="16435287" cy="358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4500" b="true">
                <a:solidFill>
                  <a:srgbClr val="1800AD"/>
                </a:solidFill>
                <a:latin typeface="Roboto Bold"/>
                <a:ea typeface="Roboto Bold"/>
                <a:cs typeface="Roboto Bold"/>
                <a:sym typeface="Roboto Bold"/>
              </a:rPr>
              <a:t>Coeficiente de determinación R²:</a:t>
            </a:r>
          </a:p>
          <a:p>
            <a:pPr algn="l" marL="820421" indent="-410210" lvl="1">
              <a:lnSpc>
                <a:spcPts val="494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Clientes conocidos:</a:t>
            </a: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0.915</a:t>
            </a:r>
          </a:p>
          <a:p>
            <a:pPr algn="l" marL="820421" indent="-410210" lvl="1">
              <a:lnSpc>
                <a:spcPts val="494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Clientes</a:t>
            </a:r>
            <a:r>
              <a:rPr lang="en-US" b="true" sz="38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nuevos: </a:t>
            </a: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0.919</a:t>
            </a:r>
          </a:p>
          <a:p>
            <a:pPr algn="l">
              <a:lnSpc>
                <a:spcPts val="4940"/>
              </a:lnSpc>
            </a:pPr>
            <a:r>
              <a:rPr lang="en-US" sz="3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 modelo es altamente confiable ya que explica el ~92% de los factores que definen el ingreso.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6894" y="1014729"/>
            <a:ext cx="15968006" cy="207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true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Recomendaciones estratégicas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54494" y="42862"/>
            <a:ext cx="1555561" cy="0"/>
          </a:xfrm>
          <a:prstGeom prst="line">
            <a:avLst/>
          </a:prstGeom>
          <a:ln cap="flat" w="857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087523" y="3810907"/>
            <a:ext cx="588335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en-US" b="true" sz="3999">
                <a:solidFill>
                  <a:srgbClr val="1800AD"/>
                </a:solidFill>
                <a:latin typeface="Roboto Bold"/>
                <a:ea typeface="Roboto Bold"/>
                <a:cs typeface="Roboto Bold"/>
                <a:sym typeface="Roboto Bold"/>
              </a:rPr>
              <a:t>Campañas de fidelización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3285" y="8101784"/>
            <a:ext cx="7086600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en-US" b="true" sz="3999">
                <a:solidFill>
                  <a:srgbClr val="1800AD"/>
                </a:solidFill>
                <a:latin typeface="Roboto Bold"/>
                <a:ea typeface="Roboto Bold"/>
                <a:cs typeface="Roboto Bold"/>
                <a:sym typeface="Roboto Bold"/>
              </a:rPr>
              <a:t>Asignar ejecutivos a clientes importantes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4265" y="6262370"/>
            <a:ext cx="767562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</a:pPr>
            <a:r>
              <a:rPr lang="en-US" sz="3999" b="true">
                <a:solidFill>
                  <a:srgbClr val="1800AD"/>
                </a:solidFill>
                <a:latin typeface="Roboto Bold"/>
                <a:ea typeface="Roboto Bold"/>
                <a:cs typeface="Roboto Bold"/>
                <a:sym typeface="Roboto Bold"/>
              </a:rPr>
              <a:t>F</a:t>
            </a:r>
            <a:r>
              <a:rPr lang="en-US" b="true" sz="3999">
                <a:solidFill>
                  <a:srgbClr val="1800AD"/>
                </a:solidFill>
                <a:latin typeface="Roboto Bold"/>
                <a:ea typeface="Roboto Bold"/>
                <a:cs typeface="Roboto Bold"/>
                <a:sym typeface="Roboto Bold"/>
              </a:rPr>
              <a:t>lujos automatizados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26718" y="3865880"/>
            <a:ext cx="941617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Evita pagos atrasados.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Previene el cambio por la competencia.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Preferencia por contratos de mayor plazo.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26718" y="6271895"/>
            <a:ext cx="941617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Reduce costos en cuentas de menor ingreso.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26718" y="8077835"/>
            <a:ext cx="941617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Evita que se vayan los clientes de mayores ingresos.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DAHWyVlTaIw</dc:identifier>
  <dcterms:modified xsi:type="dcterms:W3CDTF">2011-08-01T06:04:30Z</dcterms:modified>
  <cp:revision>1</cp:revision>
  <dc:title>Presentación evaluación 2</dc:title>
</cp:coreProperties>
</file>